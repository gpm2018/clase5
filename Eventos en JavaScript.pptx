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Roboto-italic.fntdata"/><Relationship Id="rId23" Type="http://schemas.openxmlformats.org/officeDocument/2006/relationships/slide" Target="slides/slide18.xml"/><Relationship Id="rId45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Robo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582ac2b9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582ac2b9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582ac2b9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582ac2b9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576e3840f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576e3840f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576e3840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576e3840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3fb021a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3fb021a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582ac2b9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582ac2b9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6582ac39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6582ac39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582ac399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6582ac399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3fb021af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3fb021af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582ac399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582ac399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576e3840f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576e3840f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576e3840f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576e3840f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76e3840f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76e3840f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582ac2b9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6582ac2b9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3fb021af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3fb021af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576e3840f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576e3840f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576e3840f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576e3840f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76e3840f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76e3840f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3fb021af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3fb021af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b9c550b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b9c550b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b9c550b4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b9c550b4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b9c550b4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b9c550b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1b956a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01b956a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01b956a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01b956a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c68a36b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c68a36b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c68a36b0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c68a36b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c68a36b0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8c68a36b0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c68a36b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c68a36b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d2bb2770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d2bb277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2bb2770b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2bb2770b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9355d1f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d9355d1f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2bb2770b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d2bb2770b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d2bb2770b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d2bb2770b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d2bb2770b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d2bb2770b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2bb2770b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d2bb2770b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2bb2770b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d2bb2770b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d2bb2770b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d2bb2770b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2400">
                <a:solidFill>
                  <a:srgbClr val="000000"/>
                </a:solidFill>
              </a:defRPr>
            </a:lvl1pPr>
            <a:lvl2pPr indent="-3810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 sz="24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6662058" y="4446667"/>
            <a:ext cx="2508020" cy="706541"/>
            <a:chOff x="6533328" y="4151184"/>
            <a:chExt cx="2610617" cy="740531"/>
          </a:xfrm>
        </p:grpSpPr>
        <p:sp>
          <p:nvSpPr>
            <p:cNvPr id="23" name="Google Shape;23;p3"/>
            <p:cNvSpPr/>
            <p:nvPr/>
          </p:nvSpPr>
          <p:spPr>
            <a:xfrm>
              <a:off x="8272445" y="4151316"/>
              <a:ext cx="871500" cy="740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533328" y="4151316"/>
              <a:ext cx="871500" cy="740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404838" y="4151316"/>
              <a:ext cx="871500" cy="740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10800000">
              <a:off x="8272377" y="4151184"/>
              <a:ext cx="871500" cy="740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" name="Google Shape;27;p3"/>
          <p:cNvGrpSpPr/>
          <p:nvPr/>
        </p:nvGrpSpPr>
        <p:grpSpPr>
          <a:xfrm>
            <a:off x="-51" y="-9166"/>
            <a:ext cx="9144142" cy="983316"/>
            <a:chOff x="-13" y="-12188"/>
            <a:chExt cx="8005728" cy="1161900"/>
          </a:xfrm>
        </p:grpSpPr>
        <p:sp>
          <p:nvSpPr>
            <p:cNvPr id="28" name="Google Shape;28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AB010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0F24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FFFFFF"/>
                </a:solidFill>
              </a:endParaRPr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None/>
              <a:defRPr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presentation/d/18wFFNaKcVwCsmYaB7_n1xJrH3HPgL23GJFO6d1Ggnxk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w3schools.com/js/tryit.asp?filename=tryjs_event_onclick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w3schools.com/js/tryit.asp?filename=tryjs_event_onclic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3schools.com/js/tryit.asp?filename=tryjs_events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necompiler.com/html/44fxny6e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w3schools.com/jsref/tryit.asp?filename=tryjsref_onchang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w3schools.com/jsref/tryit.asp?filename=tryjsref_onscrol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w3schools.com/jsref/tryit.asp?filename=tryjsref_onkeypres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necompiler.com/html/44fxqxne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w3schools.com/jsref/tryit.asp?filename=tryjsref_onfocu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w3schools.com/jsref/tryit.asp?filename=tryjsref_onblur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w3schools.com/jsref/tryit.asp?filename=tryjsref_onco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w3schools.com/jsref/tryit.asp?filename=tryjsref_oncu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w3schools.com/jsref/tryit.asp?filename=tryjsref_onmouseover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necompiler.com/html/438u3433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w3schools.com/jsref/tryit.asp?filename=tryjsref_onpla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w3schools.com/jsref/event_onpause.asp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w3schools.com/jsref/tryit.asp?filename=tryjsref_onseeke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necompiler.com/html/438u3cak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w3schools.com/jsref/tryit.asp?filename=tryjsref_element_addeventlistener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necompiler.com/html/43jf5mxbk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necompiler.com/html/447dc58gy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w3schools.com/jsref/dom_obj_event.asp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necompiler.com/html/43zm4rgsx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penweathermap.org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necompiler.com/html/43962ssfv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ctrTitle"/>
          </p:nvPr>
        </p:nvSpPr>
        <p:spPr>
          <a:xfrm>
            <a:off x="1316799" y="1161025"/>
            <a:ext cx="74352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00"/>
              <a:t>Eventos en JavaScript</a:t>
            </a:r>
            <a:endParaRPr sz="5800"/>
          </a:p>
        </p:txBody>
      </p:sp>
      <p:pic>
        <p:nvPicPr>
          <p:cNvPr id="47" name="Google Shape;4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475" y="1999822"/>
            <a:ext cx="6257058" cy="235227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/>
        </p:nvSpPr>
        <p:spPr>
          <a:xfrm>
            <a:off x="6172700" y="4637675"/>
            <a:ext cx="293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Prof. Ramiro Estigarribia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112250" y="4674050"/>
            <a:ext cx="28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Link a la presentación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" type="body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eventos son </a:t>
            </a:r>
            <a:r>
              <a:rPr lang="es">
                <a:solidFill>
                  <a:srgbClr val="1A73E8"/>
                </a:solidFill>
              </a:rPr>
              <a:t>"cosas"</a:t>
            </a:r>
            <a:r>
              <a:rPr lang="es"/>
              <a:t> que les suceden cuando interactuamos con los sitios.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JavaScript puede </a:t>
            </a:r>
            <a:r>
              <a:rPr lang="es">
                <a:solidFill>
                  <a:srgbClr val="1A73E8"/>
                </a:solidFill>
              </a:rPr>
              <a:t>"reaccionar" </a:t>
            </a:r>
            <a:r>
              <a:rPr lang="es"/>
              <a:t>a estos eventos.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Aquí hay algunos ejemplos de eventos: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Una página web HTML ha terminado de cargarse.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Se cambió un campo de entrada HTML.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El usuario hizo click en un botón HTML.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🧠</a:t>
            </a:r>
            <a:r>
              <a:rPr lang="es"/>
              <a:t>¿Qué son los Eventos?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38075" y="1138175"/>
            <a:ext cx="90060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</a:t>
            </a:r>
            <a:r>
              <a:rPr lang="es"/>
              <a:t>uando sucede un evento, es posible que desee hacer algo.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Se puede ejecutar código cuando se detectan eventos: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elemento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evento=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"some JavaScript"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&lt;button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onclick=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"document.getElementById('demo').innerHTML = Date()"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The time is?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&lt;/button&gt;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CD"/>
              </a:solidFill>
            </a:endParaRPr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Eventos en HTML</a:t>
            </a:r>
            <a:endParaRPr/>
          </a:p>
        </p:txBody>
      </p:sp>
      <p:sp>
        <p:nvSpPr>
          <p:cNvPr id="62" name="Google Shape;62;p9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0" y="1138175"/>
            <a:ext cx="91440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el ejemplo anterior, el código JavaScript cambia el contenido del elemento con </a:t>
            </a:r>
            <a:r>
              <a:rPr lang="es">
                <a:solidFill>
                  <a:schemeClr val="accent4"/>
                </a:solidFill>
              </a:rPr>
              <a:t>id</a:t>
            </a:r>
            <a:r>
              <a:rPr lang="es"/>
              <a:t>=</a:t>
            </a:r>
            <a:r>
              <a:rPr lang="es">
                <a:solidFill>
                  <a:srgbClr val="1A73E8"/>
                </a:solidFill>
              </a:rPr>
              <a:t>"demo"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 el siguiente ejemplo, el código cambia el contenido de su propio elemento (usando </a:t>
            </a:r>
            <a:r>
              <a:rPr lang="es">
                <a:solidFill>
                  <a:schemeClr val="accent4"/>
                </a:solidFill>
              </a:rPr>
              <a:t>this</a:t>
            </a:r>
            <a:r>
              <a:rPr lang="es"/>
              <a:t>.innerHTML):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&lt;button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onclick=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</a:t>
            </a:r>
            <a:r>
              <a:rPr lang="es">
                <a:solidFill>
                  <a:schemeClr val="accent4"/>
                </a:solidFill>
                <a:highlight>
                  <a:srgbClr val="FFF0F0"/>
                </a:highlight>
              </a:rPr>
              <a:t>this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.innerHTML = Date()"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The time is?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&lt;/button&gt;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5"/>
                </a:solidFill>
              </a:rPr>
              <a:t>this</a:t>
            </a:r>
            <a:r>
              <a:rPr lang="es"/>
              <a:t>.innerHTML</a:t>
            </a:r>
            <a:endParaRPr/>
          </a:p>
        </p:txBody>
      </p:sp>
      <p:sp>
        <p:nvSpPr>
          <p:cNvPr id="69" name="Google Shape;69;p10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código JavaScript puede tener varias líneas de código.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 estos casos es común ver atributos de eventos llamando a funciones: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&lt;button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onclick=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"MostrarFecha()"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The time is?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&lt;/button&gt;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1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Llamando a Funciones</a:t>
            </a:r>
            <a:endParaRPr/>
          </a:p>
        </p:txBody>
      </p:sp>
      <p:sp>
        <p:nvSpPr>
          <p:cNvPr id="76" name="Google Shape;76;p11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Actividad: Implementar, comprender y personalizar el código en Visual Studio Code y compartir. (5 minutos)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Abrir Visual Studio Code.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Crear una carpeta (Clase 5) y una vez dentro crear 1 archivo: onclick.html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rgbClr val="1A73E8"/>
                </a:solidFill>
              </a:rPr>
              <a:t>Botón para mostrar la fecha.</a:t>
            </a:r>
            <a:br>
              <a:rPr lang="es">
                <a:solidFill>
                  <a:schemeClr val="accent6"/>
                </a:solidFill>
              </a:rPr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https://onecompiler.com/html/44fxny6eg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2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9900"/>
                </a:solidFill>
              </a:rPr>
              <a:t>Actividad 1</a:t>
            </a:r>
            <a:r>
              <a:rPr lang="es">
                <a:solidFill>
                  <a:schemeClr val="lt1"/>
                </a:solidFill>
              </a:rPr>
              <a:t>: Evento onclick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0" y="1138175"/>
            <a:ext cx="91440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>
                <a:solidFill>
                  <a:srgbClr val="4091CD"/>
                </a:solidFill>
              </a:rPr>
              <a:t>onclick</a:t>
            </a:r>
            <a:r>
              <a:rPr lang="es"/>
              <a:t>: Al hacer clic en un elemento.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>
                <a:solidFill>
                  <a:srgbClr val="4091CD"/>
                </a:solidFill>
              </a:rPr>
              <a:t>onscroll</a:t>
            </a:r>
            <a:r>
              <a:rPr lang="es"/>
              <a:t>: El usuario se mueve en la página.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>
                <a:solidFill>
                  <a:srgbClr val="4091CD"/>
                </a:solidFill>
              </a:rPr>
              <a:t>onkeypress</a:t>
            </a:r>
            <a:r>
              <a:rPr lang="es"/>
              <a:t>: El usuario presiona una tecla.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>
                <a:solidFill>
                  <a:srgbClr val="4091CD"/>
                </a:solidFill>
              </a:rPr>
              <a:t>onload</a:t>
            </a:r>
            <a:r>
              <a:rPr lang="es"/>
              <a:t>: El navegador ha terminado de cargar la página.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>
                <a:solidFill>
                  <a:srgbClr val="4091CD"/>
                </a:solidFill>
              </a:rPr>
              <a:t>onchange</a:t>
            </a:r>
            <a:r>
              <a:rPr lang="es"/>
              <a:t>: Al cambiar un valor en un formulario.</a:t>
            </a:r>
            <a:br>
              <a:rPr lang="es"/>
            </a:b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&lt;select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id=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"mySelect"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4091CD"/>
                </a:solidFill>
              </a:rPr>
              <a:t>onchange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</a:t>
            </a:r>
            <a:r>
              <a:rPr lang="es">
                <a:solidFill>
                  <a:schemeClr val="accent4"/>
                </a:solidFill>
                <a:highlight>
                  <a:srgbClr val="FFF0F0"/>
                </a:highlight>
              </a:rPr>
              <a:t>Mi_Función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0077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7700"/>
              </a:solidFill>
              <a:highlight>
                <a:srgbClr val="FFFFFF"/>
              </a:highlight>
            </a:endParaRPr>
          </a:p>
        </p:txBody>
      </p:sp>
      <p:sp>
        <p:nvSpPr>
          <p:cNvPr id="88" name="Google Shape;88;p13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Principales Eventos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794225" y="210775"/>
            <a:ext cx="204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activa cuando el usuario se mueve en la página</a:t>
            </a:r>
            <a:r>
              <a:rPr lang="es"/>
              <a:t> (scr</a:t>
            </a:r>
            <a:r>
              <a:rPr lang="es"/>
              <a:t>oll):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&lt;div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onscroll=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"myFunction()"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In my younger... 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&lt;/div&gt;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</a:rPr>
              <a:t>&lt;script&gt;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8800"/>
                </a:solidFill>
              </a:rPr>
              <a:t>let</a:t>
            </a:r>
            <a:r>
              <a:rPr lang="es">
                <a:solidFill>
                  <a:srgbClr val="333333"/>
                </a:solidFill>
              </a:rPr>
              <a:t> x = </a:t>
            </a:r>
            <a:r>
              <a:rPr b="1" lang="es">
                <a:solidFill>
                  <a:srgbClr val="0000DD"/>
                </a:solidFill>
              </a:rPr>
              <a:t>0</a:t>
            </a:r>
            <a:r>
              <a:rPr lang="es">
                <a:solidFill>
                  <a:srgbClr val="333333"/>
                </a:solidFill>
              </a:rPr>
              <a:t>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8800"/>
                </a:solidFill>
              </a:rPr>
              <a:t>function</a:t>
            </a:r>
            <a:r>
              <a:rPr lang="es">
                <a:solidFill>
                  <a:srgbClr val="333333"/>
                </a:solidFill>
              </a:rPr>
              <a:t> myFunction() {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33333"/>
                </a:solidFill>
              </a:rPr>
              <a:t>  </a:t>
            </a:r>
            <a:r>
              <a:rPr lang="es">
                <a:solidFill>
                  <a:srgbClr val="007020"/>
                </a:solidFill>
              </a:rPr>
              <a:t>document</a:t>
            </a:r>
            <a:r>
              <a:rPr lang="es">
                <a:solidFill>
                  <a:srgbClr val="333333"/>
                </a:solidFill>
              </a:rPr>
              <a:t>.getElementById(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"demo"</a:t>
            </a:r>
            <a:r>
              <a:rPr lang="es">
                <a:solidFill>
                  <a:srgbClr val="333333"/>
                </a:solidFill>
              </a:rPr>
              <a:t>).innerHTML = x += </a:t>
            </a:r>
            <a:r>
              <a:rPr b="1" lang="es">
                <a:solidFill>
                  <a:srgbClr val="0000DD"/>
                </a:solidFill>
              </a:rPr>
              <a:t>1</a:t>
            </a:r>
            <a:r>
              <a:rPr lang="es">
                <a:solidFill>
                  <a:srgbClr val="333333"/>
                </a:solidFill>
              </a:rPr>
              <a:t>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33333"/>
                </a:solidFill>
              </a:rPr>
              <a:t>}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</a:rPr>
              <a:t>&lt;/script&gt;</a:t>
            </a:r>
            <a:endParaRPr>
              <a:solidFill>
                <a:srgbClr val="007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onscroll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Se activa cuando el usuario presiona una tecla.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1143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s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type</a:t>
            </a:r>
            <a:r>
              <a:rPr lang="es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="text"</a:t>
            </a:r>
            <a:r>
              <a:rPr lang="e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onkeypress</a:t>
            </a:r>
            <a:r>
              <a:rPr lang="es">
                <a:solidFill>
                  <a:srgbClr val="0000CD"/>
                </a:solidFill>
                <a:latin typeface="Arial"/>
                <a:ea typeface="Arial"/>
                <a:cs typeface="Arial"/>
                <a:sym typeface="Arial"/>
              </a:rPr>
              <a:t>="Mi_Función()"&gt;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* N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o se activa para todas las teclas (por ejemplo, ALT, CTRL, SHIFT, ESC) en todos los navegadores.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Para detectar solo si el usuario ha presionado una tecla, es mejor usar </a:t>
            </a:r>
            <a:r>
              <a:rPr lang="es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onkeydown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, porque funciona para todas las teclas.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onkeypress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Crear 1 archivo: onchange.html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endParaRPr>
              <a:solidFill>
                <a:schemeClr val="accent6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Compartir el código!</a:t>
            </a:r>
            <a:br>
              <a:rPr lang="es" sz="2200"/>
            </a:br>
            <a:r>
              <a:rPr lang="es" sz="2200" u="sng">
                <a:solidFill>
                  <a:schemeClr val="hlink"/>
                </a:solidFill>
                <a:hlinkClick r:id="rId3"/>
              </a:rPr>
              <a:t>https://onecompiler.com/html/44fxqxnee</a:t>
            </a:r>
            <a:endParaRPr sz="22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09" name="Google Shape;109;p16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9900"/>
                </a:solidFill>
              </a:rPr>
              <a:t>Actividad 2</a:t>
            </a:r>
            <a:r>
              <a:rPr lang="es">
                <a:solidFill>
                  <a:schemeClr val="lt1"/>
                </a:solidFill>
              </a:rPr>
              <a:t>: Evento onchange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activa cuando el usuario hace foco en un elemento.</a:t>
            </a:r>
            <a:endParaRPr/>
          </a:p>
          <a:p>
            <a:pPr indent="0" lvl="0" marL="0" marR="1143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CD"/>
                </a:solidFill>
              </a:rPr>
              <a:t>&lt;</a:t>
            </a:r>
            <a:r>
              <a:rPr lang="es">
                <a:solidFill>
                  <a:srgbClr val="A52A2A"/>
                </a:solidFill>
              </a:rPr>
              <a:t>input</a:t>
            </a:r>
            <a:r>
              <a:rPr lang="es">
                <a:solidFill>
                  <a:srgbClr val="FF0000"/>
                </a:solidFill>
              </a:rPr>
              <a:t> type</a:t>
            </a:r>
            <a:r>
              <a:rPr lang="es">
                <a:solidFill>
                  <a:srgbClr val="0000CD"/>
                </a:solidFill>
              </a:rPr>
              <a:t>="text"</a:t>
            </a:r>
            <a:r>
              <a:rPr lang="es">
                <a:solidFill>
                  <a:srgbClr val="FF0000"/>
                </a:solidFill>
              </a:rPr>
              <a:t> onfocus</a:t>
            </a:r>
            <a:r>
              <a:rPr lang="es">
                <a:solidFill>
                  <a:srgbClr val="0000CD"/>
                </a:solidFill>
              </a:rPr>
              <a:t>="myFunction()"&gt;</a:t>
            </a:r>
            <a:endParaRPr>
              <a:solidFill>
                <a:srgbClr val="0000CD"/>
              </a:solidFill>
            </a:endParaRPr>
          </a:p>
          <a:p>
            <a:pPr indent="0" lvl="0" marL="0" marR="1143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s"/>
              <a:t>* </a:t>
            </a:r>
            <a:r>
              <a:rPr lang="es"/>
              <a:t>El evento onfocus es lo opuesto al evento onblur.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onfocus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Ejecuta un código cuando el usuario abandona el campo de un formulario: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&lt;input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type=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"text"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id=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"fname"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onblur=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"myFunction()"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onblur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Ejecuta un código al copiar algún texto de un elemento &lt;input&gt;: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&lt;input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type=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"text"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oncopy=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"myFunction()"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value=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"Try to copy this text"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0077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FFFFF"/>
                </a:highlight>
              </a:rPr>
              <a:t>Hay tres formas de copiar: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>
                <a:highlight>
                  <a:srgbClr val="FFFFFF"/>
                </a:highlight>
              </a:rPr>
              <a:t>CTRL + C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>
                <a:highlight>
                  <a:srgbClr val="FFFFFF"/>
                </a:highlight>
              </a:rPr>
              <a:t>"Copiar" en el menú Editar de su navegador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>
                <a:highlight>
                  <a:srgbClr val="FFFFFF"/>
                </a:highlight>
              </a:rPr>
              <a:t>Click derecho seleccionar el comando "Copiar".</a:t>
            </a:r>
            <a:endParaRPr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oncopy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Ejecuta un código al cortar algún texto de un elemento &lt;input&gt;: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&lt;input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type=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"text"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oncut=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"myFunction()"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value=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"Try to cut this text"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0077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FFFFF"/>
                </a:highlight>
              </a:rPr>
              <a:t>Hay tres formas de cortar: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>
                <a:highlight>
                  <a:srgbClr val="FFFFFF"/>
                </a:highlight>
              </a:rPr>
              <a:t>CTRL + X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>
                <a:highlight>
                  <a:srgbClr val="FFFFFF"/>
                </a:highlight>
              </a:rPr>
              <a:t>"Cortar" en el menú Editar de su navegador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>
                <a:highlight>
                  <a:srgbClr val="FFFFFF"/>
                </a:highlight>
              </a:rPr>
              <a:t>Clic derecho seleccionar el comando "Cortar".</a:t>
            </a:r>
            <a:endParaRPr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oncut</a:t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Onmouseover s</a:t>
            </a:r>
            <a:r>
              <a:rPr lang="es"/>
              <a:t>e activa al mover el mouse sobre un elemento.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Onmouseout se activa al quitar el mouse del elemento.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&lt;img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onmouseover=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"bigImg(this)"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onmouseout=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"normalImg(this)"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src=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"smiley.gif"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Onmouseover y Onmouseout</a:t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7045100" y="210775"/>
            <a:ext cx="209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Crear 1 archivo: oncopy.html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chemeClr val="accent6"/>
                </a:solidFill>
              </a:rPr>
              <a:t>que el script sea externo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Compartir el código!</a:t>
            </a:r>
            <a:br>
              <a:rPr lang="es" sz="2200"/>
            </a:br>
            <a:r>
              <a:rPr lang="es" sz="2200" u="sng">
                <a:solidFill>
                  <a:schemeClr val="hlink"/>
                </a:solidFill>
                <a:hlinkClick r:id="rId3"/>
              </a:rPr>
              <a:t>https://onecompiler.com/html/438u3433t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50" name="Google Shape;150;p22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9900"/>
                </a:solidFill>
              </a:rPr>
              <a:t>Actividad 3</a:t>
            </a:r>
            <a:r>
              <a:rPr lang="es">
                <a:solidFill>
                  <a:schemeClr val="lt1"/>
                </a:solidFill>
              </a:rPr>
              <a:t>: Evento oncopy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Ejecuta un código cuando un video a comenzado a reproducirse: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&lt;video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onplay=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"myFunction()"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0077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FFFFF"/>
                </a:highlight>
              </a:rPr>
              <a:t>* </a:t>
            </a:r>
            <a:r>
              <a:rPr lang="es">
                <a:highlight>
                  <a:srgbClr val="FFFFFF"/>
                </a:highlight>
              </a:rPr>
              <a:t>Tip: El evento onpause ocurre cuando el audio/video se ha pausado.</a:t>
            </a:r>
            <a:endParaRPr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onplay</a:t>
            </a: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7045100" y="210775"/>
            <a:ext cx="209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Ejecuta un código cuando un video se puso en pausa: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&lt;video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onpause=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"myFunction()"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0077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onpause</a:t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7045100" y="210775"/>
            <a:ext cx="209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Ejecuta un código </a:t>
            </a:r>
            <a:r>
              <a:rPr lang="es">
                <a:highlight>
                  <a:srgbClr val="FFFFFF"/>
                </a:highlight>
              </a:rPr>
              <a:t>cuando el usuario termina de moverse/saltar a una nueva posición en el video</a:t>
            </a:r>
            <a:r>
              <a:rPr lang="es"/>
              <a:t>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&lt;video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onseek=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"myFunction()"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endParaRPr>
              <a:solidFill>
                <a:srgbClr val="0077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onseek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7045100" y="210775"/>
            <a:ext cx="209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Crear 1 archivo: onplay.html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chemeClr val="accent6"/>
                </a:solidFill>
              </a:rPr>
              <a:t>Agregar onseek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Compartir el código!</a:t>
            </a:r>
            <a:br>
              <a:rPr lang="es" sz="2200"/>
            </a:br>
            <a:r>
              <a:rPr lang="es" sz="2200" u="sng">
                <a:solidFill>
                  <a:schemeClr val="hlink"/>
                </a:solidFill>
                <a:hlinkClick r:id="rId3"/>
              </a:rPr>
              <a:t>https://onecompiler.com/html/438u3cakf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9900"/>
                </a:solidFill>
              </a:rPr>
              <a:t>Actividad 4</a:t>
            </a:r>
            <a:r>
              <a:rPr lang="es">
                <a:solidFill>
                  <a:schemeClr val="lt1"/>
                </a:solidFill>
              </a:rPr>
              <a:t>: Evento onplay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otra manera de trabajar con eventos.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Permite</a:t>
            </a:r>
            <a:r>
              <a:rPr lang="es"/>
              <a:t> decirle a un elemento HTML: </a:t>
            </a:r>
            <a:br>
              <a:rPr lang="es"/>
            </a:br>
            <a:r>
              <a:rPr lang="es"/>
              <a:t>"Cuando ocurra este evento específico, ejecuta esta función".</a:t>
            </a:r>
            <a:br>
              <a:rPr lang="es"/>
            </a:br>
            <a:br>
              <a:rPr lang="es"/>
            </a:br>
            <a:r>
              <a:rPr b="1" lang="es">
                <a:solidFill>
                  <a:srgbClr val="008800"/>
                </a:solidFill>
              </a:rPr>
              <a:t>const</a:t>
            </a:r>
            <a:r>
              <a:rPr lang="es">
                <a:solidFill>
                  <a:srgbClr val="333333"/>
                </a:solidFill>
              </a:rPr>
              <a:t> miBoton = </a:t>
            </a:r>
            <a:r>
              <a:rPr lang="es">
                <a:solidFill>
                  <a:srgbClr val="007020"/>
                </a:solidFill>
              </a:rPr>
              <a:t>document</a:t>
            </a:r>
            <a:r>
              <a:rPr lang="es">
                <a:solidFill>
                  <a:srgbClr val="333333"/>
                </a:solidFill>
              </a:rPr>
              <a:t>.getElementById(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'miBoton'</a:t>
            </a:r>
            <a:r>
              <a:rPr lang="es">
                <a:solidFill>
                  <a:srgbClr val="333333"/>
                </a:solidFill>
              </a:rPr>
              <a:t>);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33333"/>
                </a:solidFill>
              </a:rPr>
              <a:t>miBoton.addEventListener(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'click'</a:t>
            </a:r>
            <a:r>
              <a:rPr lang="es">
                <a:solidFill>
                  <a:srgbClr val="333333"/>
                </a:solidFill>
              </a:rPr>
              <a:t>, </a:t>
            </a:r>
            <a:r>
              <a:rPr b="1" lang="es">
                <a:solidFill>
                  <a:srgbClr val="008800"/>
                </a:solidFill>
              </a:rPr>
              <a:t>function</a:t>
            </a:r>
            <a:r>
              <a:rPr lang="es">
                <a:solidFill>
                  <a:srgbClr val="333333"/>
                </a:solidFill>
              </a:rPr>
              <a:t>() {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33333"/>
                </a:solidFill>
              </a:rPr>
              <a:t>    alert(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'¡Hiciste clic en el botón!'</a:t>
            </a:r>
            <a:r>
              <a:rPr lang="es">
                <a:solidFill>
                  <a:srgbClr val="333333"/>
                </a:solidFill>
              </a:rPr>
              <a:t>);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33333"/>
                </a:solidFill>
              </a:rPr>
              <a:t>});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</a:t>
            </a:r>
            <a:r>
              <a:rPr lang="es"/>
              <a:t>addEventListener?</a:t>
            </a:r>
            <a:endParaRPr/>
          </a:p>
        </p:txBody>
      </p:sp>
      <p:sp>
        <p:nvSpPr>
          <p:cNvPr id="184" name="Google Shape;184;p27"/>
          <p:cNvSpPr txBox="1"/>
          <p:nvPr/>
        </p:nvSpPr>
        <p:spPr>
          <a:xfrm>
            <a:off x="7045100" y="210775"/>
            <a:ext cx="209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0" y="1138175"/>
            <a:ext cx="91440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&lt;button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s">
                <a:solidFill>
                  <a:srgbClr val="0000CC"/>
                </a:solidFill>
                <a:highlight>
                  <a:srgbClr val="FFFFFF"/>
                </a:highlight>
              </a:rPr>
              <a:t>onclick=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"miFuncion()"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Click me</a:t>
            </a:r>
            <a:r>
              <a:rPr lang="es">
                <a:solidFill>
                  <a:srgbClr val="007700"/>
                </a:solidFill>
                <a:highlight>
                  <a:srgbClr val="FFFFFF"/>
                </a:highlight>
              </a:rPr>
              <a:t>&lt;/button&gt;</a:t>
            </a:r>
            <a:b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s"/>
              <a:t>El código JavaScript está mezclado con el HTML</a:t>
            </a:r>
            <a:br>
              <a:rPr lang="es"/>
            </a:br>
            <a:r>
              <a:rPr lang="es"/>
              <a:t>Se declara directamente en el atributo del elemento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>
                <a:solidFill>
                  <a:srgbClr val="007020"/>
                </a:solidFill>
                <a:highlight>
                  <a:srgbClr val="FFFFFF"/>
                </a:highlight>
              </a:rPr>
              <a:t>document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.querySelector(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'button'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).addEventListener(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'click'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, miFuncion);</a:t>
            </a:r>
            <a:b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s"/>
              <a:t>El código JavaScript está separado del HTML</a:t>
            </a:r>
            <a:br>
              <a:rPr lang="es"/>
            </a:br>
            <a:r>
              <a:rPr lang="es"/>
              <a:t>Se asocia el evento mediante JavaScript</a:t>
            </a:r>
            <a:endParaRPr/>
          </a:p>
        </p:txBody>
      </p:sp>
      <p:sp>
        <p:nvSpPr>
          <p:cNvPr id="190" name="Google Shape;190;p28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Diferencia entre addEventListener y eventos</a:t>
            </a:r>
            <a:endParaRPr sz="3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Crear 1 archivo: listener.html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chemeClr val="accent6"/>
                </a:solidFill>
              </a:rPr>
              <a:t>Ocultar mensaje en 5 segundos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Compartir el código!</a:t>
            </a:r>
            <a:br>
              <a:rPr lang="es" sz="2200"/>
            </a:br>
            <a:r>
              <a:rPr lang="es" sz="2200" u="sng">
                <a:solidFill>
                  <a:schemeClr val="hlink"/>
                </a:solidFill>
                <a:hlinkClick r:id="rId3"/>
              </a:rPr>
              <a:t>https://onecompiler.com/html/43jf5mxbk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96" name="Google Shape;196;p29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9900"/>
                </a:solidFill>
              </a:rPr>
              <a:t>Actividad 5</a:t>
            </a:r>
            <a:r>
              <a:rPr lang="es">
                <a:solidFill>
                  <a:schemeClr val="lt1"/>
                </a:solidFill>
              </a:rPr>
              <a:t>: </a:t>
            </a:r>
            <a:r>
              <a:rPr lang="es">
                <a:solidFill>
                  <a:schemeClr val="lt1"/>
                </a:solidFill>
              </a:rPr>
              <a:t>addEventListener</a:t>
            </a:r>
            <a:r>
              <a:rPr lang="es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evento input se dispara cada vez que el usuario modifica un campo, incluso antes de terminar de escribir.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 más inmediato que change y más completo que keyup.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input → escucha cambios en tiempo real.</a:t>
            </a:r>
            <a:endParaRPr/>
          </a:p>
        </p:txBody>
      </p:sp>
      <p:sp>
        <p:nvSpPr>
          <p:cNvPr id="202" name="Google Shape;202;p30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⭐ Evento: input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Crear 1 archivo: input.html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chemeClr val="accent6"/>
                </a:solidFill>
              </a:rPr>
              <a:t>Ocultar mensaje en 5 segundos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Compartir el código!</a:t>
            </a:r>
            <a:br>
              <a:rPr lang="es" sz="2200"/>
            </a:br>
            <a:r>
              <a:rPr lang="es" sz="2200" u="sng">
                <a:solidFill>
                  <a:schemeClr val="hlink"/>
                </a:solidFill>
                <a:hlinkClick r:id="rId3"/>
              </a:rPr>
              <a:t>https://onecompiler.com/html/447dc58gy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08" name="Google Shape;208;p31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9900"/>
                </a:solidFill>
              </a:rPr>
              <a:t>Actividad 6</a:t>
            </a:r>
            <a:r>
              <a:rPr lang="es">
                <a:solidFill>
                  <a:schemeClr val="lt1"/>
                </a:solidFill>
              </a:rPr>
              <a:t>: </a:t>
            </a:r>
            <a:r>
              <a:rPr lang="es">
                <a:solidFill>
                  <a:schemeClr val="lt1"/>
                </a:solidFill>
              </a:rPr>
              <a:t>Evento: input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evento se dispara cuando el documento HTML ha sido completamente cargado.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1A73E8"/>
                </a:solidFill>
              </a:rPr>
              <a:t>¿Por qué se usa?: </a:t>
            </a:r>
            <a:r>
              <a:rPr lang="es"/>
              <a:t>Garantiza que nuestro código JavaScript solo se ejecute cuando todos los elementos del sitio estén disponibles para ser manipulados.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document.addEventListener('DOMContentLoaded', function() { </a:t>
            </a: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s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 Código aquí</a:t>
            </a:r>
            <a:br>
              <a:rPr lang="es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" sz="20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000">
              <a:solidFill>
                <a:srgbClr val="45818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32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DOMContentLoaded?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dispara continuamente mientras el mouse se mueve sobre el elemento.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5818E"/>
                </a:solidFill>
              </a:rPr>
              <a:t>imageContainer.addEventListener('mousemove', function(e) {</a:t>
            </a:r>
            <a:endParaRPr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</a:t>
            </a:r>
            <a:r>
              <a:rPr lang="es">
                <a:solidFill>
                  <a:srgbClr val="666666"/>
                </a:solidFill>
              </a:rPr>
              <a:t>// Nuestro código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5818E"/>
                </a:solidFill>
              </a:rPr>
              <a:t>});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3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</a:t>
            </a:r>
            <a:r>
              <a:rPr lang="es"/>
              <a:t>mousemove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dispara cuando el mouse sale del area de un elemento.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5818E"/>
                </a:solidFill>
              </a:rPr>
              <a:t>imageContainer.addEventListener('mouseleave', function() {</a:t>
            </a:r>
            <a:endParaRPr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</a:t>
            </a:r>
            <a:r>
              <a:rPr lang="es">
                <a:solidFill>
                  <a:srgbClr val="666666"/>
                </a:solidFill>
              </a:rPr>
              <a:t>// Nuestro código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5818E"/>
                </a:solidFill>
              </a:rPr>
              <a:t>});</a:t>
            </a:r>
            <a:endParaRPr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Todos los eventos: </a:t>
            </a:r>
            <a:r>
              <a:rPr lang="es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HTML DOM Event Object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4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Evento: mouseleave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Crear 1 archivo: zoom.html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rgbClr val="3D85C6"/>
                </a:solidFill>
              </a:rPr>
              <a:t>Ampliar el zoom a 3.6x</a:t>
            </a:r>
            <a:br>
              <a:rPr lang="es">
                <a:solidFill>
                  <a:schemeClr val="accent6"/>
                </a:solidFill>
              </a:rPr>
            </a:br>
            <a:r>
              <a:rPr lang="es"/>
              <a:t>Compartir el código!</a:t>
            </a:r>
            <a:br>
              <a:rPr lang="es" sz="2200"/>
            </a:br>
            <a:r>
              <a:rPr lang="es" sz="2200" u="sng">
                <a:solidFill>
                  <a:schemeClr val="hlink"/>
                </a:solidFill>
                <a:hlinkClick r:id="rId3"/>
              </a:rPr>
              <a:t>https://onecompiler.com/html/43zm4rgsx</a:t>
            </a:r>
            <a:br>
              <a:rPr lang="es" sz="2200"/>
            </a:b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5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9900"/>
                </a:solidFill>
              </a:rPr>
              <a:t>Actividad 7</a:t>
            </a:r>
            <a:r>
              <a:rPr lang="es"/>
              <a:t>: </a:t>
            </a:r>
            <a:r>
              <a:rPr lang="es"/>
              <a:t>Tienda con Efecto Zoom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1700" y="11188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</a:t>
            </a:r>
            <a:r>
              <a:rPr lang="es"/>
              <a:t>s un servicio en línea que proporciona datos meteorológicos a través de una API.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Ofrece información sobre el clima actual, pronósticos, datos históricos y alertas meteorológicas.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Los datos se pueden obtener para cualquier ubicación en el mundo utilizando coordenadas geográficas y nombres de lugares.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https://openweathermap.org/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6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Open Weather Map?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311700" y="1138175"/>
            <a:ext cx="89907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a crear una aplicación para mostrar datos del clima de cualquier lugar del mundo.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Abrir Visual Studio Code.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Crear una nueva carpeta y una vez dentro, crear 1 archivo: clima.html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Copiar y pegar el siguiente código en Visual Studio Code, y luego ejecutar y compartir la aplicación. </a:t>
            </a: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https://onecompiler.com/html/43962ssfv</a:t>
            </a:r>
            <a:endParaRPr/>
          </a:p>
        </p:txBody>
      </p:sp>
      <p:sp>
        <p:nvSpPr>
          <p:cNvPr id="244" name="Google Shape;244;p37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9900"/>
                </a:solidFill>
              </a:rPr>
              <a:t>Actividad 8</a:t>
            </a:r>
            <a:r>
              <a:rPr lang="es"/>
              <a:t>: Aplicaci</a:t>
            </a:r>
            <a:r>
              <a:rPr lang="es"/>
              <a:t>ón de</a:t>
            </a:r>
            <a:r>
              <a:rPr lang="es"/>
              <a:t>l Clima		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311700" y="1138175"/>
            <a:ext cx="89907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 API Key para realizar pruebas es: 9310bae179295f6eb70c57737b374771</a:t>
            </a:r>
            <a:br>
              <a:rPr lang="es"/>
            </a:br>
            <a:br>
              <a:rPr lang="es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8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de Api para </a:t>
            </a:r>
            <a:r>
              <a:rPr lang="es">
                <a:solidFill>
                  <a:schemeClr val="lt1"/>
                </a:solidFill>
              </a:rPr>
              <a:t>Open Weather Map</a:t>
            </a:r>
            <a:endParaRPr/>
          </a:p>
        </p:txBody>
      </p:sp>
      <p:pic>
        <p:nvPicPr>
          <p:cNvPr id="251" name="Google Shape;251;p38"/>
          <p:cNvPicPr preferRelativeResize="0"/>
          <p:nvPr/>
        </p:nvPicPr>
        <p:blipFill rotWithShape="1">
          <a:blip r:embed="rId3">
            <a:alphaModFix/>
          </a:blip>
          <a:srcRect b="37640" l="0" r="0" t="0"/>
          <a:stretch/>
        </p:blipFill>
        <p:spPr>
          <a:xfrm>
            <a:off x="2213900" y="2215250"/>
            <a:ext cx="3572575" cy="260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6079550" y="1138175"/>
            <a:ext cx="32232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/>
              <a:t>Fuente: Roboto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900"/>
              <a:t>Fondo claro elegante.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s" sz="1900"/>
            </a:br>
            <a:br>
              <a:rPr lang="es" sz="1900"/>
            </a:br>
            <a:r>
              <a:rPr lang="es" sz="1900"/>
              <a:t>Contenedor.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900"/>
              <a:t>Mover el contenedor al posicionar.</a:t>
            </a:r>
            <a:endParaRPr sz="1900"/>
          </a:p>
        </p:txBody>
      </p:sp>
      <p:sp>
        <p:nvSpPr>
          <p:cNvPr id="257" name="Google Shape;257;p39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Estilos Visuales con CSS</a:t>
            </a:r>
            <a:endParaRPr/>
          </a:p>
        </p:txBody>
      </p:sp>
      <p:pic>
        <p:nvPicPr>
          <p:cNvPr id="258" name="Google Shape;25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" y="964750"/>
            <a:ext cx="6133799" cy="417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3894300" y="1138175"/>
            <a:ext cx="52500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Cambia el color del input al hacer foco.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Cambia el color del fondo del botón al estar encima.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64" name="Google Shape;264;p40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Estilos del formulario</a:t>
            </a:r>
            <a:endParaRPr/>
          </a:p>
        </p:txBody>
      </p:sp>
      <p:pic>
        <p:nvPicPr>
          <p:cNvPr id="265" name="Google Shape;2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6200"/>
            <a:ext cx="3798926" cy="42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idx="1" type="body"/>
          </p:nvPr>
        </p:nvSpPr>
        <p:spPr>
          <a:xfrm>
            <a:off x="5344050" y="1138175"/>
            <a:ext cx="38481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accent4"/>
                </a:solidFill>
              </a:rPr>
              <a:t>Evento</a:t>
            </a:r>
            <a:r>
              <a:rPr lang="es" sz="2000"/>
              <a:t>: onclick -&gt; </a:t>
            </a:r>
            <a:r>
              <a:rPr lang="es" sz="2000">
                <a:solidFill>
                  <a:srgbClr val="741B47"/>
                </a:solidFill>
              </a:rPr>
              <a:t>GetWeather</a:t>
            </a:r>
            <a:endParaRPr sz="20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Mensaje: Cargando... mientras obtiene los datos.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s" sz="2000"/>
            </a:br>
            <a:r>
              <a:rPr lang="es" sz="2000">
                <a:solidFill>
                  <a:schemeClr val="accent4"/>
                </a:solidFill>
              </a:rPr>
              <a:t>Evento</a:t>
            </a:r>
            <a:r>
              <a:rPr lang="es" sz="2000"/>
              <a:t>:</a:t>
            </a:r>
            <a:r>
              <a:rPr lang="es" sz="2000">
                <a:solidFill>
                  <a:schemeClr val="accent4"/>
                </a:solidFill>
              </a:rPr>
              <a:t> </a:t>
            </a:r>
            <a:r>
              <a:rPr lang="es" sz="2000"/>
              <a:t>DOMContentLoaded.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/>
              <a:t>Saludo según el horario actual.</a:t>
            </a:r>
            <a:endParaRPr sz="2000"/>
          </a:p>
        </p:txBody>
      </p:sp>
      <p:sp>
        <p:nvSpPr>
          <p:cNvPr id="271" name="Google Shape;271;p41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Inicio del código</a:t>
            </a:r>
            <a:endParaRPr/>
          </a:p>
        </p:txBody>
      </p:sp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9325"/>
            <a:ext cx="5375025" cy="419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Conectarse a la API</a:t>
            </a:r>
            <a:endParaRPr/>
          </a:p>
        </p:txBody>
      </p:sp>
      <p:pic>
        <p:nvPicPr>
          <p:cNvPr id="278" name="Google Shape;2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89" y="970600"/>
            <a:ext cx="8829601" cy="417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Obtener los datos del clima</a:t>
            </a:r>
            <a:endParaRPr/>
          </a:p>
        </p:txBody>
      </p:sp>
      <p:pic>
        <p:nvPicPr>
          <p:cNvPr id="284" name="Google Shape;28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50" y="941150"/>
            <a:ext cx="7740851" cy="42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5831375" y="964750"/>
            <a:ext cx="3312600" cy="3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2000"/>
            </a:br>
            <a:r>
              <a:rPr lang="es" sz="2000"/>
              <a:t>Descripción del clima.</a:t>
            </a:r>
            <a:br>
              <a:rPr lang="es" sz="2000"/>
            </a:br>
            <a:r>
              <a:rPr lang="es" sz="2000"/>
              <a:t>Nombre del Lugar.</a:t>
            </a:r>
            <a:br>
              <a:rPr lang="es" sz="2000"/>
            </a:br>
            <a:r>
              <a:rPr lang="es" sz="2000"/>
              <a:t>Humedad.</a:t>
            </a:r>
            <a:br>
              <a:rPr lang="es" sz="2000"/>
            </a:br>
            <a:r>
              <a:rPr lang="es" sz="2000"/>
              <a:t>Velocidad del viento.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Icono del clima (sol, nube, nieve, humo, etc).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0" name="Google Shape;290;p44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Mostrar los datos del clima</a:t>
            </a:r>
            <a:endParaRPr/>
          </a:p>
        </p:txBody>
      </p:sp>
      <p:pic>
        <p:nvPicPr>
          <p:cNvPr id="291" name="Google Shape;2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4753"/>
            <a:ext cx="5831376" cy="41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